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795DB3-B907-F7F1-7438-35C22105A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FA4984-991F-0EFE-C7B0-680A23D54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3C7A3-BDB9-D789-5415-296FA6C82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7E1E33-95D4-B231-D36D-A875DD6EA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0FE381-BFF1-47D7-4708-0B3F57CE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079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858908-44D3-4BB1-3749-0F8AB132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96C498-07EE-74DB-FEE9-661B0FEAD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5FA8B3-B4D0-31B4-9F16-BC8C28855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BB2874-266F-5CE3-F6E1-36C3B97A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A0BAC0-FC15-703E-AD7D-1A70C5EB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412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0EE0D2-3ACC-4ABB-1956-8FE62B7CF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F5FE66-07BD-F193-D7BB-E3C275717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254283-0D12-FE28-9D76-B48C86B3A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6425E9-699A-FF6B-BA88-32317547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829494-B13D-5382-C9D1-D8B7B24E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1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DA1720-3E10-F10E-1988-5C38564E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966D21-9428-A031-EBF3-22E63FB9B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5D7207-2695-609E-092F-1221085A3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9D504C-3484-AA2E-F00F-23C0698C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291AEC-A765-C83F-7384-54D6AA348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A81842-3197-48E6-091C-26442B32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393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AE27A-5AF0-3943-0953-E3926202A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CF0E08-8777-1C24-7BBC-AB46A374D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2545D1-4B57-0E21-6E6A-F28CB02B6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A9BCD4-E65D-917D-444E-DB2D97A2AE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813681-70F5-D527-33B8-5B7A1E04F9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BA00DB-02EB-9B6C-D2F7-6397A5E73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7C81FC-59B6-2A38-7BCB-1C711C41E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754951-9116-28CB-4618-567EA7723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06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AD3432-A2A3-95B6-D299-7458B48C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3DEAC0-56B5-3713-DDCF-CF5421E6B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0C8DA7-9A64-D8F7-76FC-34D0F566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C1D80B-FE0A-51D6-38A0-9EB5FAC98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405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0A0D72-6584-348F-62DD-4459278D0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821FDE-9031-5B59-4FD6-D51754985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C60BE4-0899-C0BE-5A43-1885E2B2D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9B71FF-0731-404E-A02A-7C018D770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40FEA0-E613-39AD-BDF1-3878B33DF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282292-F00C-D491-AAD9-2CDC37915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F35330-1137-24BA-ED7A-FC228F7A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0D8CDB-8748-559B-F3C7-1DDB2E4B6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46BEFA-2752-374A-79B1-1CFC53FB3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62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4D8B50-ED05-7DAB-E4EB-F47600635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E98A37-5855-6AFE-F170-224F9AF650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682EAD-AFC8-63DA-A488-8909725F4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55F6DB-349A-0447-941D-393BC5CA6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617A44-1E84-AC62-AAF7-C8A4AA9A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94B7B7-EFE7-CE26-9D55-57D053B5C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128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5B871-4F7E-9B5F-C3AA-4CE3A3A17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FF00F2-E9C5-7B00-ED42-9812433FE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EA25CD-ABAA-A2EE-BBDD-C500DEA53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5808DF-E394-D83F-ED5B-D9549D96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09B15-C614-6FE1-C9E0-474AD8BC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33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A5F2B5F-F6BA-E063-03B0-6560A77AA7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1168D1-4CCC-517A-CE04-5A027B725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C51FCE-EA42-D617-3B61-765C29EF3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993-DB11-4D03-8FD2-A9C36F9DFF6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71775A-6E08-8B33-E37E-D809C9F93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D4ECA6-301D-98EC-2844-CB78A2C8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34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5A2992-5DE0-9652-CBC0-3CF0C16C4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657040-D558-9EB8-E5E9-8E1EC5D8A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AFF160-0FA9-41C9-24BF-ACD52A5E5E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9E993-DB11-4D03-8FD2-A9C36F9DFF6A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1257DF-42D7-2BE7-51D7-D99603F77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6CA2F4-74C5-0C36-D1FD-E8CEE0266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FC6A3-4F91-48CA-984D-585EBA439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21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68875AD8-DA47-4F9D-A357-9B17D816C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612" y="981076"/>
            <a:ext cx="7446787" cy="558340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703FA3A-140C-455A-84A8-FA7154B1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95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面向去中心化存储系统的可验证倒排索引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2C73410-BDD7-43D8-8151-C3F755ECD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990" y="1276351"/>
            <a:ext cx="6960093" cy="5514974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1800" dirty="0"/>
              <a:t>上层索引：可扩展一致性哈希表</a:t>
            </a:r>
            <a:endParaRPr lang="en-US" altLang="zh-CN" sz="1800" dirty="0"/>
          </a:p>
          <a:p>
            <a:pPr lvl="1"/>
            <a:r>
              <a:rPr lang="zh-CN" altLang="en-US" sz="1400" b="1" dirty="0"/>
              <a:t>动机：</a:t>
            </a:r>
            <a:r>
              <a:rPr lang="zh-CN" altLang="en-US" sz="1400" dirty="0"/>
              <a:t>①负载均衡；②可动态调整；</a:t>
            </a:r>
            <a:r>
              <a:rPr lang="zh-CN" altLang="en-US" sz="1400" b="1" dirty="0"/>
              <a:t>挑战：</a:t>
            </a:r>
            <a:r>
              <a:rPr lang="zh-CN" altLang="en-US" sz="1400" dirty="0"/>
              <a:t>数据迁移代价和系统可用性</a:t>
            </a:r>
            <a:endParaRPr lang="en-US" altLang="zh-CN" sz="1400" dirty="0"/>
          </a:p>
          <a:p>
            <a:r>
              <a:rPr lang="zh-CN" altLang="en-US" sz="1800" dirty="0"/>
              <a:t>下层索引：</a:t>
            </a:r>
            <a:r>
              <a:rPr lang="en-US" altLang="zh-CN" sz="1800" dirty="0" err="1"/>
              <a:t>AccTrie</a:t>
            </a:r>
            <a:r>
              <a:rPr lang="zh-CN" altLang="en-US" sz="1800" dirty="0"/>
              <a:t>树</a:t>
            </a:r>
            <a:endParaRPr lang="en-US" altLang="zh-CN" sz="1800" dirty="0"/>
          </a:p>
          <a:p>
            <a:pPr lvl="1"/>
            <a:r>
              <a:rPr lang="zh-CN" altLang="en-US" sz="1400" dirty="0"/>
              <a:t>非叶节点：扩展节点，指针数组。</a:t>
            </a:r>
            <a:endParaRPr lang="en-US" altLang="zh-CN" sz="1400" dirty="0"/>
          </a:p>
          <a:p>
            <a:pPr lvl="1"/>
            <a:r>
              <a:rPr lang="zh-CN" altLang="en-US" sz="1400" dirty="0"/>
              <a:t>叶子节点：后缀</a:t>
            </a:r>
            <a:r>
              <a:rPr lang="en-US" altLang="zh-CN" sz="1400" dirty="0"/>
              <a:t>Suffix</a:t>
            </a:r>
            <a:r>
              <a:rPr lang="zh-CN" altLang="en-US" sz="1400" dirty="0"/>
              <a:t>，值集合</a:t>
            </a:r>
            <a:r>
              <a:rPr lang="en-US" altLang="zh-CN" sz="1400" dirty="0"/>
              <a:t>Values</a:t>
            </a:r>
            <a:r>
              <a:rPr lang="zh-CN" altLang="en-US" sz="1400" dirty="0"/>
              <a:t>，累加器值</a:t>
            </a:r>
            <a:r>
              <a:rPr lang="en-US" altLang="zh-CN" sz="1400" dirty="0"/>
              <a:t>Acc</a:t>
            </a:r>
            <a:r>
              <a:rPr lang="zh-CN" altLang="en-US" sz="1400" dirty="0"/>
              <a:t>，前向后向指针</a:t>
            </a:r>
            <a:r>
              <a:rPr lang="en-US" altLang="zh-CN" sz="1400" dirty="0" err="1"/>
              <a:t>Prev</a:t>
            </a:r>
            <a:r>
              <a:rPr lang="en-US" altLang="zh-CN" sz="1400" dirty="0"/>
              <a:t>/Next</a:t>
            </a:r>
          </a:p>
          <a:p>
            <a:pPr lvl="2"/>
            <a:r>
              <a:rPr lang="zh-CN" altLang="en-US" sz="1000" dirty="0"/>
              <a:t>累加器涵盖值集合中的每个元素，前序叶子节点的累加器值，前序</a:t>
            </a:r>
            <a:r>
              <a:rPr lang="en-US" altLang="zh-CN" sz="1000" dirty="0"/>
              <a:t>/</a:t>
            </a:r>
            <a:r>
              <a:rPr lang="zh-CN" altLang="en-US" sz="1000" dirty="0"/>
              <a:t>后序叶子节点的</a:t>
            </a:r>
            <a:r>
              <a:rPr lang="en-US" altLang="zh-CN" sz="1000" dirty="0"/>
              <a:t>key</a:t>
            </a:r>
            <a:r>
              <a:rPr lang="zh-CN" altLang="en-US" sz="1000" dirty="0"/>
              <a:t>。</a:t>
            </a:r>
            <a:endParaRPr lang="en-US" altLang="zh-CN" sz="1000" dirty="0"/>
          </a:p>
          <a:p>
            <a:pPr lvl="1"/>
            <a:r>
              <a:rPr lang="zh-CN" altLang="en-US" sz="1400" dirty="0"/>
              <a:t>根节点到叶节点的路径：键</a:t>
            </a:r>
            <a:r>
              <a:rPr lang="en-US" altLang="zh-CN" sz="1400" dirty="0"/>
              <a:t>key</a:t>
            </a:r>
          </a:p>
          <a:p>
            <a:r>
              <a:rPr lang="zh-CN" altLang="en-US" sz="1800" dirty="0"/>
              <a:t>插入（</a:t>
            </a:r>
            <a:r>
              <a:rPr lang="en-US" altLang="zh-CN" sz="1800" dirty="0" err="1"/>
              <a:t>key,values</a:t>
            </a:r>
            <a:r>
              <a:rPr lang="zh-CN" altLang="en-US" sz="1800" dirty="0"/>
              <a:t>）：</a:t>
            </a:r>
            <a:endParaRPr lang="en-US" altLang="zh-CN" sz="1800" dirty="0"/>
          </a:p>
          <a:p>
            <a:pPr lvl="1"/>
            <a:r>
              <a:rPr lang="en-US" altLang="zh-CN" sz="1400" dirty="0"/>
              <a:t>1. Auditor</a:t>
            </a:r>
            <a:r>
              <a:rPr lang="zh-CN" altLang="en-US" sz="1400" dirty="0"/>
              <a:t>中定位待插入的</a:t>
            </a:r>
            <a:r>
              <a:rPr lang="en-US" altLang="zh-CN" sz="1400" dirty="0"/>
              <a:t>KV</a:t>
            </a:r>
            <a:r>
              <a:rPr lang="zh-CN" altLang="en-US" sz="1400" dirty="0"/>
              <a:t>所在的存储节点；</a:t>
            </a:r>
            <a:endParaRPr lang="en-US" altLang="zh-CN" sz="1400" dirty="0"/>
          </a:p>
          <a:p>
            <a:pPr lvl="1"/>
            <a:r>
              <a:rPr lang="en-US" altLang="zh-CN" sz="1400" dirty="0"/>
              <a:t>2. </a:t>
            </a:r>
            <a:r>
              <a:rPr lang="zh-CN" altLang="en-US" sz="1400" dirty="0"/>
              <a:t>在存储节点的</a:t>
            </a:r>
            <a:r>
              <a:rPr lang="en-US" altLang="zh-CN" sz="1400" dirty="0" err="1"/>
              <a:t>AccTrie</a:t>
            </a:r>
            <a:r>
              <a:rPr lang="zh-CN" altLang="en-US" sz="1400" dirty="0"/>
              <a:t>树中合适位置找到或创建一个叶子节点</a:t>
            </a:r>
            <a:r>
              <a:rPr lang="en-US" altLang="zh-CN" sz="1400" dirty="0"/>
              <a:t>LN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lvl="1"/>
            <a:r>
              <a:rPr lang="en-US" altLang="zh-CN" sz="1400" dirty="0"/>
              <a:t>3. </a:t>
            </a:r>
            <a:r>
              <a:rPr lang="zh-CN" altLang="en-US" sz="1400" dirty="0"/>
              <a:t>更新</a:t>
            </a:r>
            <a:r>
              <a:rPr lang="en-US" altLang="zh-CN" sz="1400" dirty="0"/>
              <a:t>LN</a:t>
            </a:r>
            <a:r>
              <a:rPr lang="zh-CN" altLang="en-US" sz="1400" dirty="0"/>
              <a:t>的</a:t>
            </a:r>
            <a:r>
              <a:rPr lang="en-US" altLang="zh-CN" sz="1400" dirty="0"/>
              <a:t>Values</a:t>
            </a:r>
            <a:r>
              <a:rPr lang="zh-CN" altLang="en-US" sz="1400" dirty="0"/>
              <a:t>值和</a:t>
            </a:r>
            <a:r>
              <a:rPr lang="en-US" altLang="zh-CN" sz="1400" dirty="0"/>
              <a:t>Acc</a:t>
            </a:r>
            <a:r>
              <a:rPr lang="zh-CN" altLang="en-US" sz="1400" dirty="0"/>
              <a:t>值；</a:t>
            </a:r>
            <a:endParaRPr lang="en-US" altLang="zh-CN" sz="1400" dirty="0"/>
          </a:p>
          <a:p>
            <a:pPr lvl="1"/>
            <a:r>
              <a:rPr lang="en-US" altLang="zh-CN" sz="1400" dirty="0"/>
              <a:t>4. </a:t>
            </a:r>
            <a:r>
              <a:rPr lang="zh-CN" altLang="en-US" sz="1400" dirty="0"/>
              <a:t>获取前序叶子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，将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加入到</a:t>
            </a:r>
            <a:r>
              <a:rPr lang="en-US" altLang="zh-CN" sz="1400" dirty="0" err="1"/>
              <a:t>LN.Acc</a:t>
            </a:r>
            <a:r>
              <a:rPr lang="zh-CN" altLang="en-US" sz="1400" dirty="0"/>
              <a:t>中；若前序（后序）叶子不存在，则将“</a:t>
            </a:r>
            <a:r>
              <a:rPr lang="en-US" altLang="zh-CN" sz="1400" dirty="0" err="1"/>
              <a:t>NoPrev</a:t>
            </a:r>
            <a:r>
              <a:rPr lang="zh-CN" altLang="en-US" sz="1400" dirty="0"/>
              <a:t>”（“</a:t>
            </a:r>
            <a:r>
              <a:rPr lang="en-US" altLang="zh-CN" sz="1400" dirty="0" err="1"/>
              <a:t>NoNext</a:t>
            </a:r>
            <a:r>
              <a:rPr lang="zh-CN" altLang="en-US" sz="1400" dirty="0"/>
              <a:t>”）添加到</a:t>
            </a:r>
            <a:r>
              <a:rPr lang="en-US" altLang="zh-CN" sz="1400" dirty="0" err="1"/>
              <a:t>LN.Acc</a:t>
            </a:r>
            <a:r>
              <a:rPr lang="zh-CN" altLang="en-US" sz="1400" dirty="0"/>
              <a:t>中；</a:t>
            </a:r>
            <a:endParaRPr lang="en-US" altLang="zh-CN" sz="1400" dirty="0"/>
          </a:p>
          <a:p>
            <a:pPr lvl="1"/>
            <a:r>
              <a:rPr lang="en-US" altLang="zh-CN" sz="1400" dirty="0"/>
              <a:t>5. </a:t>
            </a:r>
            <a:r>
              <a:rPr lang="zh-CN" altLang="en-US" sz="1400" dirty="0"/>
              <a:t>若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的后序不为空，则返回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，将</a:t>
            </a:r>
            <a:r>
              <a:rPr lang="en-US" altLang="zh-CN" sz="1400" dirty="0"/>
              <a:t>key</a:t>
            </a:r>
            <a:r>
              <a:rPr lang="zh-CN" altLang="en-US" sz="1400" dirty="0"/>
              <a:t>加入到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en-US" altLang="zh-CN" sz="1400" dirty="0" err="1"/>
              <a:t>.Acc</a:t>
            </a:r>
            <a:r>
              <a:rPr lang="zh-CN" altLang="en-US" sz="1400" dirty="0"/>
              <a:t>中，同时在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en-US" altLang="zh-CN" sz="1400" dirty="0" err="1"/>
              <a:t>.Acc</a:t>
            </a:r>
            <a:r>
              <a:rPr lang="zh-CN" altLang="en-US" sz="1400" dirty="0"/>
              <a:t>中删除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，将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设置为</a:t>
            </a:r>
            <a:r>
              <a:rPr lang="en-US" altLang="zh-CN" sz="1400" dirty="0"/>
              <a:t>LN</a:t>
            </a:r>
            <a:r>
              <a:rPr lang="zh-CN" altLang="en-US" sz="1400" dirty="0"/>
              <a:t>的后序叶子；</a:t>
            </a:r>
            <a:endParaRPr lang="en-US" altLang="zh-CN" sz="1400" dirty="0"/>
          </a:p>
          <a:p>
            <a:pPr lvl="1"/>
            <a:r>
              <a:rPr lang="en-US" altLang="zh-CN" sz="1400" dirty="0"/>
              <a:t>6. </a:t>
            </a:r>
            <a:r>
              <a:rPr lang="zh-CN" altLang="en-US" sz="1400" dirty="0"/>
              <a:t>返回</a:t>
            </a:r>
            <a:r>
              <a:rPr lang="en-US" altLang="zh-CN" sz="1400" dirty="0" err="1"/>
              <a:t>LN.Acc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p</a:t>
            </a:r>
            <a:r>
              <a:rPr lang="en-US" altLang="zh-CN" sz="1400" dirty="0" err="1"/>
              <a:t>.Acc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en-US" altLang="zh-CN" sz="1400" dirty="0" err="1"/>
              <a:t>.Acc</a:t>
            </a:r>
            <a:r>
              <a:rPr lang="zh-CN" altLang="en-US" sz="1400" dirty="0"/>
              <a:t>的新旧值给</a:t>
            </a:r>
            <a:r>
              <a:rPr lang="en-US" altLang="zh-CN" sz="1400" dirty="0"/>
              <a:t>Auditor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lvl="1"/>
            <a:r>
              <a:rPr lang="en-US" altLang="zh-CN" sz="1400" dirty="0"/>
              <a:t>7. Auditor</a:t>
            </a:r>
            <a:r>
              <a:rPr lang="zh-CN" altLang="en-US" sz="1400" dirty="0"/>
              <a:t>验证插入的有效性并更新根</a:t>
            </a:r>
            <a:r>
              <a:rPr lang="en-US" altLang="zh-CN" sz="1400" dirty="0"/>
              <a:t>Acc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lvl="2"/>
            <a:r>
              <a:rPr lang="zh-CN" altLang="en-US" sz="1200" dirty="0"/>
              <a:t>①比较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p</a:t>
            </a:r>
            <a:r>
              <a:rPr lang="en-US" altLang="zh-CN" sz="1200" dirty="0"/>
              <a:t>&lt;key&lt;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n</a:t>
            </a:r>
            <a:r>
              <a:rPr lang="zh-CN" altLang="en-US" sz="1200" dirty="0"/>
              <a:t>三者存在字典序；</a:t>
            </a:r>
            <a:endParaRPr lang="en-US" altLang="zh-CN" sz="1200" dirty="0"/>
          </a:p>
          <a:p>
            <a:pPr lvl="2"/>
            <a:r>
              <a:rPr lang="zh-CN" altLang="en-US" sz="1200" dirty="0"/>
              <a:t>②验证旧</a:t>
            </a:r>
            <a:r>
              <a:rPr lang="en-US" altLang="zh-CN" sz="1200" dirty="0" err="1"/>
              <a:t>LN</a:t>
            </a:r>
            <a:r>
              <a:rPr lang="en-US" altLang="zh-CN" sz="1200" baseline="-25000" dirty="0" err="1"/>
              <a:t>n</a:t>
            </a:r>
            <a:r>
              <a:rPr lang="en-US" altLang="zh-CN" sz="1200" dirty="0" err="1"/>
              <a:t>.Acc</a:t>
            </a:r>
            <a:r>
              <a:rPr lang="zh-CN" altLang="en-US" sz="1200" dirty="0"/>
              <a:t>在根</a:t>
            </a:r>
            <a:r>
              <a:rPr lang="en-US" altLang="zh-CN" sz="1200" dirty="0"/>
              <a:t>Acc</a:t>
            </a:r>
            <a:r>
              <a:rPr lang="zh-CN" altLang="en-US" sz="1200" dirty="0"/>
              <a:t>中是否存在，存在则删除；</a:t>
            </a:r>
            <a:endParaRPr lang="en-US" altLang="zh-CN" sz="1200" dirty="0"/>
          </a:p>
          <a:p>
            <a:pPr lvl="2"/>
            <a:r>
              <a:rPr lang="zh-CN" altLang="en-US" sz="1200" dirty="0"/>
              <a:t>③验证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p</a:t>
            </a:r>
            <a:r>
              <a:rPr lang="zh-CN" altLang="en-US" sz="1200" dirty="0"/>
              <a:t>在旧</a:t>
            </a:r>
            <a:r>
              <a:rPr lang="en-US" altLang="zh-CN" sz="1200" dirty="0" err="1"/>
              <a:t>LN</a:t>
            </a:r>
            <a:r>
              <a:rPr lang="en-US" altLang="zh-CN" sz="1200" baseline="-25000" dirty="0" err="1"/>
              <a:t>n</a:t>
            </a:r>
            <a:r>
              <a:rPr lang="en-US" altLang="zh-CN" sz="1200" dirty="0" err="1"/>
              <a:t>.Acc</a:t>
            </a:r>
            <a:r>
              <a:rPr lang="zh-CN" altLang="en-US" sz="1200" dirty="0"/>
              <a:t>中是否存在；</a:t>
            </a:r>
            <a:endParaRPr lang="en-US" altLang="zh-CN" sz="1200" dirty="0"/>
          </a:p>
          <a:p>
            <a:pPr lvl="2"/>
            <a:r>
              <a:rPr lang="zh-CN" altLang="en-US" sz="1200" dirty="0"/>
              <a:t>④验证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p</a:t>
            </a:r>
            <a:r>
              <a:rPr lang="zh-CN" altLang="en-US" sz="1200" dirty="0"/>
              <a:t>在</a:t>
            </a:r>
            <a:r>
              <a:rPr lang="en-US" altLang="zh-CN" sz="1200" dirty="0" err="1"/>
              <a:t>LN.Acc</a:t>
            </a:r>
            <a:r>
              <a:rPr lang="zh-CN" altLang="en-US" sz="1200" dirty="0"/>
              <a:t>中是否存在；</a:t>
            </a:r>
            <a:endParaRPr lang="en-US" altLang="zh-CN" sz="1200" dirty="0"/>
          </a:p>
          <a:p>
            <a:pPr lvl="2"/>
            <a:r>
              <a:rPr lang="zh-CN" altLang="en-US" sz="1200" dirty="0"/>
              <a:t>⑤验证</a:t>
            </a:r>
            <a:r>
              <a:rPr lang="en-US" altLang="zh-CN" sz="1200" dirty="0"/>
              <a:t>key</a:t>
            </a:r>
            <a:r>
              <a:rPr lang="zh-CN" altLang="en-US" sz="1200" dirty="0"/>
              <a:t>和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p</a:t>
            </a:r>
            <a:r>
              <a:rPr lang="zh-CN" altLang="en-US" sz="1200" dirty="0"/>
              <a:t>在新</a:t>
            </a:r>
            <a:r>
              <a:rPr lang="en-US" altLang="zh-CN" sz="1200" dirty="0" err="1"/>
              <a:t>LN</a:t>
            </a:r>
            <a:r>
              <a:rPr lang="en-US" altLang="zh-CN" sz="1200" baseline="-25000" dirty="0" err="1"/>
              <a:t>n</a:t>
            </a:r>
            <a:r>
              <a:rPr lang="en-US" altLang="zh-CN" sz="1200" dirty="0" err="1"/>
              <a:t>.Acc</a:t>
            </a:r>
            <a:r>
              <a:rPr lang="zh-CN" altLang="en-US" sz="1200" dirty="0"/>
              <a:t>中是否存在；</a:t>
            </a:r>
            <a:endParaRPr lang="en-US" altLang="zh-CN" sz="1200" dirty="0"/>
          </a:p>
          <a:p>
            <a:pPr lvl="2"/>
            <a:r>
              <a:rPr lang="zh-CN" altLang="en-US" sz="1200" dirty="0"/>
              <a:t>⑥在根</a:t>
            </a:r>
            <a:r>
              <a:rPr lang="en-US" altLang="zh-CN" sz="1200" dirty="0"/>
              <a:t>Acc</a:t>
            </a:r>
            <a:r>
              <a:rPr lang="zh-CN" altLang="en-US" sz="1200" dirty="0"/>
              <a:t>中添加</a:t>
            </a:r>
            <a:r>
              <a:rPr lang="en-US" altLang="zh-CN" sz="1200" dirty="0" err="1"/>
              <a:t>LN.Acc</a:t>
            </a:r>
            <a:r>
              <a:rPr lang="zh-CN" altLang="en-US" sz="1200" dirty="0"/>
              <a:t>和新</a:t>
            </a:r>
            <a:r>
              <a:rPr lang="en-US" altLang="zh-CN" sz="1200" dirty="0" err="1"/>
              <a:t>LN</a:t>
            </a:r>
            <a:r>
              <a:rPr lang="en-US" altLang="zh-CN" sz="1200" baseline="-25000" dirty="0" err="1"/>
              <a:t>n</a:t>
            </a:r>
            <a:r>
              <a:rPr lang="en-US" altLang="zh-CN" sz="1200" dirty="0" err="1"/>
              <a:t>.Acc</a:t>
            </a:r>
            <a:r>
              <a:rPr lang="en-US" altLang="zh-CN" sz="1200" dirty="0"/>
              <a:t>.</a:t>
            </a:r>
            <a:r>
              <a:rPr lang="zh-CN" altLang="en-US" sz="1200" dirty="0"/>
              <a:t>。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1225012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68875AD8-DA47-4F9D-A357-9B17D816C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187" y="1169824"/>
            <a:ext cx="7446787" cy="558340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703FA3A-140C-455A-84A8-FA7154B1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95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面向去中心化存储系统的可验证倒排索引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2C73410-BDD7-43D8-8151-C3F755ECD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740" y="981075"/>
            <a:ext cx="6962035" cy="5772150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上层索引：可扩展一致性哈希表</a:t>
            </a:r>
            <a:endParaRPr lang="en-US" altLang="zh-CN" sz="1800" dirty="0"/>
          </a:p>
          <a:p>
            <a:pPr lvl="1"/>
            <a:r>
              <a:rPr lang="zh-CN" altLang="en-US" sz="1400" b="1" dirty="0"/>
              <a:t>动机：</a:t>
            </a:r>
            <a:r>
              <a:rPr lang="zh-CN" altLang="en-US" sz="1400" dirty="0"/>
              <a:t>①负载均衡；②可动态调整；</a:t>
            </a:r>
            <a:r>
              <a:rPr lang="zh-CN" altLang="en-US" sz="1400" b="1" dirty="0"/>
              <a:t>挑战：</a:t>
            </a:r>
            <a:r>
              <a:rPr lang="zh-CN" altLang="en-US" sz="1400" dirty="0"/>
              <a:t>数据迁移代价和系统可用性</a:t>
            </a:r>
            <a:endParaRPr lang="en-US" altLang="zh-CN" sz="1400" dirty="0"/>
          </a:p>
          <a:p>
            <a:r>
              <a:rPr lang="zh-CN" altLang="en-US" sz="1800" dirty="0"/>
              <a:t>下层索引：</a:t>
            </a:r>
            <a:r>
              <a:rPr lang="en-US" altLang="zh-CN" sz="1800" dirty="0" err="1"/>
              <a:t>AccTrie</a:t>
            </a:r>
            <a:r>
              <a:rPr lang="zh-CN" altLang="en-US" sz="1800" dirty="0"/>
              <a:t>树</a:t>
            </a:r>
            <a:endParaRPr lang="en-US" altLang="zh-CN" sz="1800" dirty="0"/>
          </a:p>
          <a:p>
            <a:pPr lvl="1"/>
            <a:r>
              <a:rPr lang="zh-CN" altLang="en-US" sz="1400" dirty="0"/>
              <a:t>非叶节点：扩展节点，指针数组。</a:t>
            </a:r>
            <a:endParaRPr lang="en-US" altLang="zh-CN" sz="1400" dirty="0"/>
          </a:p>
          <a:p>
            <a:pPr lvl="1"/>
            <a:r>
              <a:rPr lang="zh-CN" altLang="en-US" sz="1400" dirty="0"/>
              <a:t>叶子节点：后缀</a:t>
            </a:r>
            <a:r>
              <a:rPr lang="en-US" altLang="zh-CN" sz="1400" dirty="0"/>
              <a:t>Suffix</a:t>
            </a:r>
            <a:r>
              <a:rPr lang="zh-CN" altLang="en-US" sz="1400" dirty="0"/>
              <a:t>，值集合</a:t>
            </a:r>
            <a:r>
              <a:rPr lang="en-US" altLang="zh-CN" sz="1400" dirty="0"/>
              <a:t>Values</a:t>
            </a:r>
            <a:r>
              <a:rPr lang="zh-CN" altLang="en-US" sz="1400" dirty="0"/>
              <a:t>，累加器值</a:t>
            </a:r>
            <a:r>
              <a:rPr lang="en-US" altLang="zh-CN" sz="1400" dirty="0"/>
              <a:t>Acc</a:t>
            </a:r>
            <a:r>
              <a:rPr lang="zh-CN" altLang="en-US" sz="1400" dirty="0"/>
              <a:t>，前向后向指针</a:t>
            </a:r>
            <a:r>
              <a:rPr lang="en-US" altLang="zh-CN" sz="1400" dirty="0" err="1"/>
              <a:t>Prev</a:t>
            </a:r>
            <a:r>
              <a:rPr lang="en-US" altLang="zh-CN" sz="1400" dirty="0"/>
              <a:t>/Next</a:t>
            </a:r>
          </a:p>
          <a:p>
            <a:pPr lvl="2"/>
            <a:r>
              <a:rPr lang="zh-CN" altLang="en-US" sz="1000" dirty="0"/>
              <a:t>累加器涵盖值集合中的每个元素，前序叶子节点的累加器值，前序</a:t>
            </a:r>
            <a:r>
              <a:rPr lang="en-US" altLang="zh-CN" sz="1000" dirty="0"/>
              <a:t>/</a:t>
            </a:r>
            <a:r>
              <a:rPr lang="zh-CN" altLang="en-US" sz="1000" dirty="0"/>
              <a:t>后序叶子节点的</a:t>
            </a:r>
            <a:r>
              <a:rPr lang="en-US" altLang="zh-CN" sz="1000" dirty="0"/>
              <a:t>key</a:t>
            </a:r>
            <a:r>
              <a:rPr lang="zh-CN" altLang="en-US" sz="1000" dirty="0"/>
              <a:t>。</a:t>
            </a:r>
            <a:endParaRPr lang="en-US" altLang="zh-CN" sz="1000" dirty="0"/>
          </a:p>
          <a:p>
            <a:pPr lvl="1"/>
            <a:r>
              <a:rPr lang="zh-CN" altLang="en-US" sz="1400" dirty="0"/>
              <a:t>根节点到叶节点的路径：键</a:t>
            </a:r>
            <a:r>
              <a:rPr lang="en-US" altLang="zh-CN" sz="1400" dirty="0"/>
              <a:t>key</a:t>
            </a:r>
          </a:p>
          <a:p>
            <a:r>
              <a:rPr lang="zh-CN" altLang="en-US" sz="1800" dirty="0"/>
              <a:t>删除（</a:t>
            </a:r>
            <a:r>
              <a:rPr lang="en-US" altLang="zh-CN" sz="1800" dirty="0" err="1"/>
              <a:t>key,values</a:t>
            </a:r>
            <a:r>
              <a:rPr lang="zh-CN" altLang="en-US" sz="1800" dirty="0"/>
              <a:t>）：</a:t>
            </a:r>
            <a:endParaRPr lang="en-US" altLang="zh-CN" sz="1800" dirty="0"/>
          </a:p>
          <a:p>
            <a:pPr lvl="1"/>
            <a:r>
              <a:rPr lang="en-US" altLang="zh-CN" sz="1400" dirty="0"/>
              <a:t>1. Auditor</a:t>
            </a:r>
            <a:r>
              <a:rPr lang="zh-CN" altLang="en-US" sz="1400" dirty="0"/>
              <a:t>中定位待删除的</a:t>
            </a:r>
            <a:r>
              <a:rPr lang="en-US" altLang="zh-CN" sz="1400" dirty="0"/>
              <a:t>KV</a:t>
            </a:r>
            <a:r>
              <a:rPr lang="zh-CN" altLang="en-US" sz="1400" dirty="0"/>
              <a:t>所在的存储节点；</a:t>
            </a:r>
            <a:endParaRPr lang="en-US" altLang="zh-CN" sz="1400" dirty="0"/>
          </a:p>
          <a:p>
            <a:pPr lvl="1"/>
            <a:r>
              <a:rPr lang="en-US" altLang="zh-CN" sz="1400" dirty="0"/>
              <a:t>2. </a:t>
            </a:r>
            <a:r>
              <a:rPr lang="zh-CN" altLang="en-US" sz="1400" dirty="0"/>
              <a:t>在存储节点的</a:t>
            </a:r>
            <a:r>
              <a:rPr lang="en-US" altLang="zh-CN" sz="1400" dirty="0" err="1"/>
              <a:t>AccTrie</a:t>
            </a:r>
            <a:r>
              <a:rPr lang="zh-CN" altLang="en-US" sz="1400" dirty="0"/>
              <a:t>树中找到</a:t>
            </a:r>
            <a:r>
              <a:rPr lang="en-US" altLang="zh-CN" sz="1400" dirty="0"/>
              <a:t>key</a:t>
            </a:r>
            <a:r>
              <a:rPr lang="zh-CN" altLang="en-US" sz="1400" dirty="0"/>
              <a:t>对应的叶子节点</a:t>
            </a:r>
            <a:r>
              <a:rPr lang="en-US" altLang="zh-CN" sz="1400" dirty="0"/>
              <a:t>LN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lvl="1"/>
            <a:r>
              <a:rPr lang="en-US" altLang="zh-CN" sz="1400" dirty="0"/>
              <a:t>3.</a:t>
            </a:r>
            <a:r>
              <a:rPr lang="zh-CN" altLang="en-US" sz="1400" dirty="0"/>
              <a:t> 若只删除部分</a:t>
            </a:r>
            <a:r>
              <a:rPr lang="en-US" altLang="zh-CN" sz="1400" dirty="0"/>
              <a:t>Values</a:t>
            </a:r>
            <a:r>
              <a:rPr lang="zh-CN" altLang="en-US" sz="1400" dirty="0"/>
              <a:t>，则更新</a:t>
            </a:r>
            <a:r>
              <a:rPr lang="en-US" altLang="zh-CN" sz="1400" dirty="0" err="1"/>
              <a:t>LN.Acc</a:t>
            </a:r>
            <a:r>
              <a:rPr lang="zh-CN" altLang="en-US" sz="1400" dirty="0"/>
              <a:t>并将新旧</a:t>
            </a:r>
            <a:r>
              <a:rPr lang="en-US" altLang="zh-CN" sz="1400" dirty="0" err="1"/>
              <a:t>LN.Acc</a:t>
            </a:r>
            <a:r>
              <a:rPr lang="zh-CN" altLang="en-US" sz="1400" dirty="0"/>
              <a:t>返给</a:t>
            </a:r>
            <a:r>
              <a:rPr lang="en-US" altLang="zh-CN" sz="1400" dirty="0"/>
              <a:t>Auditor</a:t>
            </a:r>
            <a:r>
              <a:rPr lang="zh-CN" altLang="en-US" sz="1400" dirty="0"/>
              <a:t>更新根</a:t>
            </a:r>
            <a:r>
              <a:rPr lang="en-US" altLang="zh-CN" sz="1400" dirty="0"/>
              <a:t>Acc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lvl="1"/>
            <a:r>
              <a:rPr lang="en-US" altLang="zh-CN" sz="1400" dirty="0"/>
              <a:t>4. </a:t>
            </a:r>
            <a:r>
              <a:rPr lang="zh-CN" altLang="en-US" sz="1400" dirty="0"/>
              <a:t>若删除整个叶子节点</a:t>
            </a:r>
            <a:r>
              <a:rPr lang="en-US" altLang="zh-CN" sz="1400" dirty="0"/>
              <a:t>LN</a:t>
            </a:r>
            <a:r>
              <a:rPr lang="zh-CN" altLang="en-US" sz="1400" dirty="0"/>
              <a:t>，则获取前序叶子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，获取后序叶子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，在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en-US" altLang="zh-CN" sz="1400" dirty="0" err="1"/>
              <a:t>.Acc</a:t>
            </a:r>
            <a:r>
              <a:rPr lang="zh-CN" altLang="en-US" sz="1400" dirty="0"/>
              <a:t>中删除</a:t>
            </a:r>
            <a:r>
              <a:rPr lang="en-US" altLang="zh-CN" sz="1400" dirty="0"/>
              <a:t>key</a:t>
            </a:r>
            <a:r>
              <a:rPr lang="zh-CN" altLang="en-US" sz="1400" dirty="0"/>
              <a:t>并加入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，将前序指针指向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，将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的后序指针指向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lvl="1"/>
            <a:r>
              <a:rPr lang="en-US" altLang="zh-CN" sz="1400" dirty="0"/>
              <a:t>5. </a:t>
            </a:r>
            <a:r>
              <a:rPr lang="zh-CN" altLang="en-US" sz="1400" dirty="0"/>
              <a:t>返回</a:t>
            </a:r>
            <a:r>
              <a:rPr lang="en-US" altLang="zh-CN" sz="1400" dirty="0" err="1"/>
              <a:t>LN.Acc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en-US" altLang="zh-CN" sz="1400" dirty="0" err="1"/>
              <a:t>.Acc</a:t>
            </a:r>
            <a:r>
              <a:rPr lang="zh-CN" altLang="en-US" sz="1400" dirty="0"/>
              <a:t>的新旧值给</a:t>
            </a:r>
            <a:r>
              <a:rPr lang="en-US" altLang="zh-CN" sz="1400" dirty="0"/>
              <a:t>Auditor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lvl="1"/>
            <a:r>
              <a:rPr lang="en-US" altLang="zh-CN" sz="1400" dirty="0"/>
              <a:t>6. Auditor</a:t>
            </a:r>
            <a:r>
              <a:rPr lang="zh-CN" altLang="en-US" sz="1400" dirty="0"/>
              <a:t>验证删除的有效性并更新</a:t>
            </a:r>
            <a:r>
              <a:rPr lang="en-US" altLang="zh-CN" sz="1400" dirty="0"/>
              <a:t>Acc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lvl="2"/>
            <a:r>
              <a:rPr lang="zh-CN" altLang="en-US" sz="1200" dirty="0"/>
              <a:t>①比较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p</a:t>
            </a:r>
            <a:r>
              <a:rPr lang="en-US" altLang="zh-CN" sz="1200" dirty="0"/>
              <a:t>&lt;key&lt;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n</a:t>
            </a:r>
            <a:r>
              <a:rPr lang="zh-CN" altLang="en-US" sz="1200" dirty="0"/>
              <a:t>三者存在字典序；</a:t>
            </a:r>
            <a:endParaRPr lang="en-US" altLang="zh-CN" sz="1200" dirty="0"/>
          </a:p>
          <a:p>
            <a:pPr lvl="2"/>
            <a:r>
              <a:rPr lang="zh-CN" altLang="en-US" sz="1200" dirty="0"/>
              <a:t>②验证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p</a:t>
            </a:r>
            <a:r>
              <a:rPr lang="zh-CN" altLang="en-US" sz="1200" dirty="0"/>
              <a:t>在</a:t>
            </a:r>
            <a:r>
              <a:rPr lang="en-US" altLang="zh-CN" sz="1200" dirty="0" err="1"/>
              <a:t>LN.Acc</a:t>
            </a:r>
            <a:r>
              <a:rPr lang="zh-CN" altLang="en-US" sz="1200" dirty="0"/>
              <a:t>中是否存在；</a:t>
            </a:r>
            <a:endParaRPr lang="en-US" altLang="zh-CN" sz="1200" dirty="0"/>
          </a:p>
          <a:p>
            <a:pPr lvl="2"/>
            <a:r>
              <a:rPr lang="zh-CN" altLang="en-US" sz="1200" dirty="0"/>
              <a:t>③验证</a:t>
            </a:r>
            <a:r>
              <a:rPr lang="en-US" altLang="zh-CN" sz="1200" dirty="0"/>
              <a:t>key</a:t>
            </a:r>
            <a:r>
              <a:rPr lang="zh-CN" altLang="en-US" sz="1200" dirty="0"/>
              <a:t>在旧</a:t>
            </a:r>
            <a:r>
              <a:rPr lang="en-US" altLang="zh-CN" sz="1200" dirty="0" err="1"/>
              <a:t>LNn.Acc</a:t>
            </a:r>
            <a:r>
              <a:rPr lang="zh-CN" altLang="en-US" sz="1200" dirty="0"/>
              <a:t>中是否存在；</a:t>
            </a:r>
            <a:endParaRPr lang="en-US" altLang="zh-CN" sz="1200" dirty="0"/>
          </a:p>
          <a:p>
            <a:pPr lvl="2"/>
            <a:r>
              <a:rPr lang="zh-CN" altLang="en-US" sz="1200" dirty="0"/>
              <a:t>④验证</a:t>
            </a:r>
            <a:r>
              <a:rPr lang="en-US" altLang="zh-CN" sz="1200" dirty="0"/>
              <a:t>key</a:t>
            </a:r>
            <a:r>
              <a:rPr lang="zh-CN" altLang="en-US" sz="1200" dirty="0"/>
              <a:t>和</a:t>
            </a:r>
            <a:r>
              <a:rPr lang="en-US" altLang="zh-CN" sz="1200" dirty="0" err="1"/>
              <a:t>key</a:t>
            </a:r>
            <a:r>
              <a:rPr lang="en-US" altLang="zh-CN" sz="1200" baseline="-25000" dirty="0" err="1"/>
              <a:t>p</a:t>
            </a:r>
            <a:r>
              <a:rPr lang="zh-CN" altLang="en-US" sz="1200" dirty="0"/>
              <a:t>在新</a:t>
            </a:r>
            <a:r>
              <a:rPr lang="en-US" altLang="zh-CN" sz="1200" dirty="0" err="1"/>
              <a:t>LN</a:t>
            </a:r>
            <a:r>
              <a:rPr lang="en-US" altLang="zh-CN" sz="1200" baseline="-25000" dirty="0" err="1"/>
              <a:t>n</a:t>
            </a:r>
            <a:r>
              <a:rPr lang="en-US" altLang="zh-CN" sz="1200" dirty="0" err="1"/>
              <a:t>.Acc</a:t>
            </a:r>
            <a:r>
              <a:rPr lang="zh-CN" altLang="en-US" sz="1200" dirty="0"/>
              <a:t>中是否存在；</a:t>
            </a:r>
            <a:endParaRPr lang="en-US" altLang="zh-CN" sz="1200" dirty="0"/>
          </a:p>
          <a:p>
            <a:pPr lvl="2"/>
            <a:r>
              <a:rPr lang="zh-CN" altLang="en-US" sz="1200" dirty="0"/>
              <a:t>⑤在根</a:t>
            </a:r>
            <a:r>
              <a:rPr lang="en-US" altLang="zh-CN" sz="1200" dirty="0"/>
              <a:t>Acc</a:t>
            </a:r>
            <a:r>
              <a:rPr lang="zh-CN" altLang="en-US" sz="1200" dirty="0"/>
              <a:t>中删除</a:t>
            </a:r>
            <a:r>
              <a:rPr lang="en-US" altLang="zh-CN" sz="1200" dirty="0" err="1"/>
              <a:t>LN.Acc</a:t>
            </a:r>
            <a:r>
              <a:rPr lang="zh-CN" altLang="en-US" sz="1200" dirty="0"/>
              <a:t>和旧</a:t>
            </a:r>
            <a:r>
              <a:rPr lang="en-US" altLang="zh-CN" sz="1200" dirty="0" err="1"/>
              <a:t>LN</a:t>
            </a:r>
            <a:r>
              <a:rPr lang="en-US" altLang="zh-CN" sz="1200" baseline="-25000" dirty="0" err="1"/>
              <a:t>n</a:t>
            </a:r>
            <a:r>
              <a:rPr lang="en-US" altLang="zh-CN" sz="1200" dirty="0" err="1"/>
              <a:t>.Acc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pPr lvl="2"/>
            <a:r>
              <a:rPr lang="zh-CN" altLang="en-US" sz="1200" dirty="0"/>
              <a:t>⑥在根</a:t>
            </a:r>
            <a:r>
              <a:rPr lang="en-US" altLang="zh-CN" sz="1200" dirty="0"/>
              <a:t>Acc</a:t>
            </a:r>
            <a:r>
              <a:rPr lang="zh-CN" altLang="en-US" sz="1200" dirty="0"/>
              <a:t>中添加新</a:t>
            </a:r>
            <a:r>
              <a:rPr lang="en-US" altLang="zh-CN" sz="1200" dirty="0" err="1"/>
              <a:t>LN</a:t>
            </a:r>
            <a:r>
              <a:rPr lang="en-US" altLang="zh-CN" sz="1200" baseline="-25000" dirty="0" err="1"/>
              <a:t>n</a:t>
            </a:r>
            <a:r>
              <a:rPr lang="en-US" altLang="zh-CN" sz="1200" dirty="0" err="1"/>
              <a:t>.Acc</a:t>
            </a:r>
            <a:r>
              <a:rPr lang="en-US" altLang="zh-CN" sz="1200" dirty="0"/>
              <a:t>.</a:t>
            </a:r>
          </a:p>
          <a:p>
            <a:pPr marL="914400" lvl="2" indent="0">
              <a:buNone/>
            </a:pPr>
            <a:endParaRPr lang="en-US" altLang="zh-CN" sz="1000" dirty="0"/>
          </a:p>
          <a:p>
            <a:pPr lvl="1"/>
            <a:endParaRPr lang="en-US" altLang="zh-CN" sz="1400" dirty="0"/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25179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68875AD8-DA47-4F9D-A357-9B17D816C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612" y="981076"/>
            <a:ext cx="7446787" cy="558340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703FA3A-140C-455A-84A8-FA7154B1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95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面向去中心化存储系统的可验证倒排索引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2C73410-BDD7-43D8-8151-C3F755ECD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40" y="1213835"/>
            <a:ext cx="7075503" cy="5117884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上层索引：可扩展一致性哈希表</a:t>
            </a:r>
            <a:endParaRPr lang="en-US" altLang="zh-CN" sz="1800" dirty="0"/>
          </a:p>
          <a:p>
            <a:pPr lvl="1"/>
            <a:r>
              <a:rPr lang="zh-CN" altLang="en-US" sz="1400" b="1" dirty="0"/>
              <a:t>动机：</a:t>
            </a:r>
            <a:r>
              <a:rPr lang="zh-CN" altLang="en-US" sz="1400" dirty="0"/>
              <a:t>①负载均衡；②可动态调整；</a:t>
            </a:r>
            <a:r>
              <a:rPr lang="zh-CN" altLang="en-US" sz="1400" b="1" dirty="0"/>
              <a:t>挑战：</a:t>
            </a:r>
            <a:r>
              <a:rPr lang="zh-CN" altLang="en-US" sz="1400" dirty="0"/>
              <a:t>数据迁移代价和系统可用性</a:t>
            </a:r>
            <a:endParaRPr lang="en-US" altLang="zh-CN" sz="1400" dirty="0"/>
          </a:p>
          <a:p>
            <a:r>
              <a:rPr lang="zh-CN" altLang="en-US" sz="1800" dirty="0"/>
              <a:t>下层索引：</a:t>
            </a:r>
            <a:r>
              <a:rPr lang="en-US" altLang="zh-CN" sz="1800" dirty="0" err="1"/>
              <a:t>AccTrie</a:t>
            </a:r>
            <a:r>
              <a:rPr lang="zh-CN" altLang="en-US" sz="1800" dirty="0"/>
              <a:t>树</a:t>
            </a:r>
            <a:endParaRPr lang="en-US" altLang="zh-CN" sz="1800" dirty="0"/>
          </a:p>
          <a:p>
            <a:pPr lvl="1"/>
            <a:r>
              <a:rPr lang="zh-CN" altLang="en-US" sz="1400" dirty="0"/>
              <a:t>非叶节点：扩展节点，指针数组。</a:t>
            </a:r>
            <a:endParaRPr lang="en-US" altLang="zh-CN" sz="1400" dirty="0"/>
          </a:p>
          <a:p>
            <a:pPr lvl="1"/>
            <a:r>
              <a:rPr lang="zh-CN" altLang="en-US" sz="1400" dirty="0"/>
              <a:t>叶子节点：后缀</a:t>
            </a:r>
            <a:r>
              <a:rPr lang="en-US" altLang="zh-CN" sz="1400" dirty="0"/>
              <a:t>Suffix</a:t>
            </a:r>
            <a:r>
              <a:rPr lang="zh-CN" altLang="en-US" sz="1400" dirty="0"/>
              <a:t>，值集合</a:t>
            </a:r>
            <a:r>
              <a:rPr lang="en-US" altLang="zh-CN" sz="1400" dirty="0"/>
              <a:t>Values</a:t>
            </a:r>
            <a:r>
              <a:rPr lang="zh-CN" altLang="en-US" sz="1400" dirty="0"/>
              <a:t>，累加器值</a:t>
            </a:r>
            <a:r>
              <a:rPr lang="en-US" altLang="zh-CN" sz="1400" dirty="0"/>
              <a:t>Acc</a:t>
            </a:r>
            <a:r>
              <a:rPr lang="zh-CN" altLang="en-US" sz="1400" dirty="0"/>
              <a:t>，前向后向指针</a:t>
            </a:r>
            <a:r>
              <a:rPr lang="en-US" altLang="zh-CN" sz="1400" dirty="0" err="1"/>
              <a:t>Prev</a:t>
            </a:r>
            <a:r>
              <a:rPr lang="en-US" altLang="zh-CN" sz="1400" dirty="0"/>
              <a:t>/Next</a:t>
            </a:r>
          </a:p>
          <a:p>
            <a:pPr lvl="2"/>
            <a:r>
              <a:rPr lang="zh-CN" altLang="en-US" sz="1000" dirty="0"/>
              <a:t>累加器涵盖值集合中的每个元素，前序叶子节点的累加器值，前序</a:t>
            </a:r>
            <a:r>
              <a:rPr lang="en-US" altLang="zh-CN" sz="1000" dirty="0"/>
              <a:t>/</a:t>
            </a:r>
            <a:r>
              <a:rPr lang="zh-CN" altLang="en-US" sz="1000" dirty="0"/>
              <a:t>后序叶子节点的</a:t>
            </a:r>
            <a:r>
              <a:rPr lang="en-US" altLang="zh-CN" sz="1000" dirty="0"/>
              <a:t>key</a:t>
            </a:r>
            <a:r>
              <a:rPr lang="zh-CN" altLang="en-US" sz="1000" dirty="0"/>
              <a:t>。</a:t>
            </a:r>
            <a:endParaRPr lang="en-US" altLang="zh-CN" sz="1000" dirty="0"/>
          </a:p>
          <a:p>
            <a:pPr lvl="1"/>
            <a:r>
              <a:rPr lang="zh-CN" altLang="en-US" sz="1400" dirty="0"/>
              <a:t>根节点到叶节点的路径：键</a:t>
            </a:r>
            <a:r>
              <a:rPr lang="en-US" altLang="zh-CN" sz="1400" dirty="0"/>
              <a:t>key</a:t>
            </a:r>
          </a:p>
          <a:p>
            <a:r>
              <a:rPr lang="zh-CN" altLang="en-US" sz="1800" dirty="0"/>
              <a:t>查询</a:t>
            </a:r>
            <a:r>
              <a:rPr lang="en-US" altLang="zh-CN" sz="1800" dirty="0"/>
              <a:t>values </a:t>
            </a:r>
            <a:r>
              <a:rPr lang="en-US" altLang="zh-CN" sz="1800" dirty="0">
                <a:sym typeface="Wingdings" panose="05000000000000000000" pitchFamily="2" charset="2"/>
              </a:rPr>
              <a:t> (</a:t>
            </a:r>
            <a:r>
              <a:rPr lang="en-US" altLang="zh-CN" sz="1800" dirty="0"/>
              <a:t>key)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pPr lvl="1"/>
            <a:r>
              <a:rPr lang="en-US" altLang="zh-CN" sz="1400" dirty="0"/>
              <a:t>1. Auditor</a:t>
            </a:r>
            <a:r>
              <a:rPr lang="zh-CN" altLang="en-US" sz="1400" dirty="0"/>
              <a:t>中定位查询所在的存储节点；</a:t>
            </a:r>
            <a:endParaRPr lang="en-US" altLang="zh-CN" sz="1400" dirty="0"/>
          </a:p>
          <a:p>
            <a:pPr lvl="1"/>
            <a:r>
              <a:rPr lang="en-US" altLang="zh-CN" sz="1400" dirty="0"/>
              <a:t>2. </a:t>
            </a:r>
            <a:r>
              <a:rPr lang="zh-CN" altLang="en-US" sz="1400" dirty="0"/>
              <a:t>在存储节点中根据路径定位至对应叶子节点；</a:t>
            </a:r>
            <a:endParaRPr lang="en-US" altLang="zh-CN" sz="1400" dirty="0"/>
          </a:p>
          <a:p>
            <a:pPr lvl="1"/>
            <a:r>
              <a:rPr lang="en-US" altLang="zh-CN" sz="1400" dirty="0"/>
              <a:t>3. </a:t>
            </a:r>
            <a:r>
              <a:rPr lang="zh-CN" altLang="en-US" sz="1400" dirty="0"/>
              <a:t>若所查询的值存在，则返回对应的累加器值；</a:t>
            </a:r>
            <a:endParaRPr lang="en-US" altLang="zh-CN" sz="1400" dirty="0"/>
          </a:p>
          <a:p>
            <a:pPr lvl="1"/>
            <a:r>
              <a:rPr lang="en-US" altLang="zh-CN" sz="1400" dirty="0"/>
              <a:t>4. </a:t>
            </a:r>
            <a:r>
              <a:rPr lang="zh-CN" altLang="en-US" sz="1400" dirty="0"/>
              <a:t>若所查询的值不存在，则构造不存在证明：</a:t>
            </a:r>
            <a:endParaRPr lang="en-US" altLang="zh-CN" sz="1400" dirty="0"/>
          </a:p>
          <a:p>
            <a:pPr lvl="2"/>
            <a:r>
              <a:rPr lang="en-US" altLang="zh-CN" sz="1400" dirty="0"/>
              <a:t>4.1</a:t>
            </a:r>
            <a:r>
              <a:rPr lang="zh-CN" altLang="en-US" sz="1400" dirty="0"/>
              <a:t> 获取查询</a:t>
            </a:r>
            <a:r>
              <a:rPr lang="en-US" altLang="zh-CN" sz="1400" dirty="0"/>
              <a:t>key</a:t>
            </a:r>
            <a:r>
              <a:rPr lang="zh-CN" altLang="en-US" sz="1400" dirty="0"/>
              <a:t>的前序叶子节点的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和后序叶子节点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lvl="2"/>
            <a:r>
              <a:rPr lang="en-US" altLang="zh-CN" sz="1400" dirty="0"/>
              <a:t>4.2</a:t>
            </a:r>
            <a:r>
              <a:rPr lang="zh-CN" altLang="en-US" sz="1400" dirty="0"/>
              <a:t> 返回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n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en-US" altLang="zh-CN" sz="1400" dirty="0" err="1"/>
              <a:t>.Acc</a:t>
            </a:r>
            <a:r>
              <a:rPr lang="zh-CN" altLang="en-US" sz="1400" dirty="0"/>
              <a:t>给</a:t>
            </a:r>
            <a:r>
              <a:rPr lang="en-US" altLang="zh-CN" sz="1400" dirty="0"/>
              <a:t>Auditor</a:t>
            </a:r>
            <a:r>
              <a:rPr lang="zh-CN" altLang="en-US" sz="1400" dirty="0"/>
              <a:t>进行验证：</a:t>
            </a:r>
            <a:endParaRPr lang="en-US" altLang="zh-CN" sz="1400" dirty="0"/>
          </a:p>
          <a:p>
            <a:pPr lvl="3"/>
            <a:r>
              <a:rPr lang="zh-CN" altLang="en-US" sz="1400" dirty="0"/>
              <a:t>①验证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en-US" altLang="zh-CN" sz="1400" dirty="0"/>
              <a:t>&lt;key&lt;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n</a:t>
            </a:r>
            <a:r>
              <a:rPr lang="en-US" altLang="zh-CN" sz="1400" dirty="0"/>
              <a:t>;</a:t>
            </a:r>
          </a:p>
          <a:p>
            <a:pPr lvl="3"/>
            <a:r>
              <a:rPr lang="zh-CN" altLang="en-US" sz="1400" dirty="0"/>
              <a:t>②验证</a:t>
            </a:r>
            <a:r>
              <a:rPr lang="en-US" altLang="zh-CN" sz="1400" dirty="0" err="1"/>
              <a:t>key</a:t>
            </a:r>
            <a:r>
              <a:rPr lang="en-US" altLang="zh-CN" sz="1400" baseline="-25000" dirty="0" err="1"/>
              <a:t>p</a:t>
            </a:r>
            <a:r>
              <a:rPr lang="zh-CN" altLang="en-US" sz="1400" dirty="0"/>
              <a:t>在</a:t>
            </a:r>
            <a:r>
              <a:rPr lang="en-US" altLang="zh-CN" sz="1400" dirty="0" err="1"/>
              <a:t>LN</a:t>
            </a:r>
            <a:r>
              <a:rPr lang="en-US" altLang="zh-CN" sz="1400" baseline="-25000" dirty="0" err="1"/>
              <a:t>n</a:t>
            </a:r>
            <a:r>
              <a:rPr lang="en-US" altLang="zh-CN" sz="1400" dirty="0" err="1"/>
              <a:t>.Acc</a:t>
            </a:r>
            <a:r>
              <a:rPr lang="zh-CN" altLang="en-US" sz="1400" dirty="0"/>
              <a:t>中是否存在。</a:t>
            </a:r>
            <a:endParaRPr lang="en-US" altLang="zh-CN" sz="1400" dirty="0"/>
          </a:p>
          <a:p>
            <a:pPr lvl="1"/>
            <a:endParaRPr lang="en-US" altLang="zh-CN" sz="1400" dirty="0"/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158140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68875AD8-DA47-4F9D-A357-9B17D816C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612" y="981076"/>
            <a:ext cx="7446787" cy="558340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703FA3A-140C-455A-84A8-FA7154B1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95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面向去中心化存储系统的可验证倒排索引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2C73410-BDD7-43D8-8151-C3F755ECD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40" y="1213835"/>
            <a:ext cx="6552460" cy="5117884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上层索引：可扩展一致性哈希表</a:t>
            </a:r>
            <a:endParaRPr lang="en-US" altLang="zh-CN" sz="1800" dirty="0"/>
          </a:p>
          <a:p>
            <a:pPr lvl="1"/>
            <a:r>
              <a:rPr lang="zh-CN" altLang="en-US" sz="1400" b="1" dirty="0"/>
              <a:t>动机：</a:t>
            </a:r>
            <a:r>
              <a:rPr lang="zh-CN" altLang="en-US" sz="1400" dirty="0"/>
              <a:t>①负载均衡；②可动态调整；</a:t>
            </a:r>
            <a:r>
              <a:rPr lang="zh-CN" altLang="en-US" sz="1400" b="1" dirty="0"/>
              <a:t>挑战：</a:t>
            </a:r>
            <a:r>
              <a:rPr lang="zh-CN" altLang="en-US" sz="1400" dirty="0"/>
              <a:t>数据迁移代价和系统可用性</a:t>
            </a:r>
            <a:endParaRPr lang="en-US" altLang="zh-CN" sz="1400" dirty="0"/>
          </a:p>
          <a:p>
            <a:r>
              <a:rPr lang="zh-CN" altLang="en-US" sz="1800" dirty="0"/>
              <a:t>下层索引：</a:t>
            </a:r>
            <a:r>
              <a:rPr lang="en-US" altLang="zh-CN" sz="1800" dirty="0" err="1"/>
              <a:t>AccTrie</a:t>
            </a:r>
            <a:r>
              <a:rPr lang="zh-CN" altLang="en-US" sz="1800" dirty="0"/>
              <a:t>树</a:t>
            </a:r>
            <a:endParaRPr lang="en-US" altLang="zh-CN" sz="1800" dirty="0"/>
          </a:p>
          <a:p>
            <a:pPr lvl="1"/>
            <a:r>
              <a:rPr lang="zh-CN" altLang="en-US" sz="1400" dirty="0"/>
              <a:t>非叶节点：扩展节点，指针数组。</a:t>
            </a:r>
            <a:endParaRPr lang="en-US" altLang="zh-CN" sz="1400" dirty="0"/>
          </a:p>
          <a:p>
            <a:pPr lvl="1"/>
            <a:r>
              <a:rPr lang="zh-CN" altLang="en-US" sz="1400" dirty="0"/>
              <a:t>叶子节点：后缀</a:t>
            </a:r>
            <a:r>
              <a:rPr lang="en-US" altLang="zh-CN" sz="1400" dirty="0"/>
              <a:t>Suffix</a:t>
            </a:r>
            <a:r>
              <a:rPr lang="zh-CN" altLang="en-US" sz="1400" dirty="0"/>
              <a:t>，值集合</a:t>
            </a:r>
            <a:r>
              <a:rPr lang="en-US" altLang="zh-CN" sz="1400" dirty="0"/>
              <a:t>Values</a:t>
            </a:r>
            <a:r>
              <a:rPr lang="zh-CN" altLang="en-US" sz="1400" dirty="0"/>
              <a:t>，累加器值</a:t>
            </a:r>
            <a:r>
              <a:rPr lang="en-US" altLang="zh-CN" sz="1400" dirty="0"/>
              <a:t>Acc</a:t>
            </a:r>
            <a:r>
              <a:rPr lang="zh-CN" altLang="en-US" sz="1400" dirty="0"/>
              <a:t>，前向后向指针</a:t>
            </a:r>
            <a:r>
              <a:rPr lang="en-US" altLang="zh-CN" sz="1400" dirty="0" err="1"/>
              <a:t>Prev</a:t>
            </a:r>
            <a:r>
              <a:rPr lang="en-US" altLang="zh-CN" sz="1400" dirty="0"/>
              <a:t>/Next</a:t>
            </a:r>
          </a:p>
          <a:p>
            <a:pPr lvl="2"/>
            <a:r>
              <a:rPr lang="zh-CN" altLang="en-US" sz="1000" dirty="0"/>
              <a:t>累加器涵盖值集合中的每个元素，前序叶子节点的累加器值，前序</a:t>
            </a:r>
            <a:r>
              <a:rPr lang="en-US" altLang="zh-CN" sz="1000" dirty="0"/>
              <a:t>/</a:t>
            </a:r>
            <a:r>
              <a:rPr lang="zh-CN" altLang="en-US" sz="1000" dirty="0"/>
              <a:t>后序叶子节点的</a:t>
            </a:r>
            <a:r>
              <a:rPr lang="en-US" altLang="zh-CN" sz="1000" dirty="0"/>
              <a:t>key</a:t>
            </a:r>
            <a:r>
              <a:rPr lang="zh-CN" altLang="en-US" sz="1000" dirty="0"/>
              <a:t>。</a:t>
            </a:r>
            <a:endParaRPr lang="en-US" altLang="zh-CN" sz="1000" dirty="0"/>
          </a:p>
          <a:p>
            <a:pPr lvl="1"/>
            <a:r>
              <a:rPr lang="zh-CN" altLang="en-US" sz="1400" dirty="0"/>
              <a:t>根节点到叶节点的路径：键</a:t>
            </a:r>
            <a:r>
              <a:rPr lang="en-US" altLang="zh-CN" sz="1400" dirty="0"/>
              <a:t>key</a:t>
            </a:r>
          </a:p>
          <a:p>
            <a:r>
              <a:rPr lang="zh-CN" altLang="en-US" sz="1800" dirty="0"/>
              <a:t>布尔查询</a:t>
            </a:r>
            <a:r>
              <a:rPr lang="en-US" altLang="zh-CN" sz="1800" dirty="0"/>
              <a:t>values </a:t>
            </a:r>
            <a:r>
              <a:rPr lang="en-US" altLang="zh-CN" sz="1800" dirty="0">
                <a:sym typeface="Wingdings" panose="05000000000000000000" pitchFamily="2" charset="2"/>
              </a:rPr>
              <a:t> (</a:t>
            </a:r>
            <a:r>
              <a:rPr lang="en-US" altLang="zh-CN" sz="1800" dirty="0"/>
              <a:t>key1</a:t>
            </a:r>
            <a:r>
              <a:rPr lang="zh-CN" altLang="en-US" sz="1800" dirty="0"/>
              <a:t>∩</a:t>
            </a:r>
            <a:r>
              <a:rPr lang="en-US" altLang="zh-CN" sz="1800" dirty="0"/>
              <a:t>key2)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pPr lvl="1"/>
            <a:r>
              <a:rPr lang="en-US" altLang="zh-CN" sz="1400" dirty="0"/>
              <a:t>1. Auditor</a:t>
            </a:r>
            <a:r>
              <a:rPr lang="zh-CN" altLang="en-US" sz="1400" dirty="0"/>
              <a:t>中定位</a:t>
            </a:r>
            <a:r>
              <a:rPr lang="en-US" altLang="zh-CN" sz="1400" dirty="0"/>
              <a:t>key1</a:t>
            </a:r>
            <a:r>
              <a:rPr lang="zh-CN" altLang="en-US" sz="1400" dirty="0"/>
              <a:t>和</a:t>
            </a:r>
            <a:r>
              <a:rPr lang="en-US" altLang="zh-CN" sz="1400" dirty="0"/>
              <a:t>key2</a:t>
            </a:r>
            <a:r>
              <a:rPr lang="zh-CN" altLang="en-US" sz="1400" dirty="0"/>
              <a:t>分别所在的存储节点；</a:t>
            </a:r>
            <a:endParaRPr lang="en-US" altLang="zh-CN" sz="1400" dirty="0"/>
          </a:p>
          <a:p>
            <a:pPr lvl="1"/>
            <a:r>
              <a:rPr lang="en-US" altLang="zh-CN" sz="1400" dirty="0"/>
              <a:t>2. </a:t>
            </a:r>
            <a:r>
              <a:rPr lang="zh-CN" altLang="en-US" sz="1400" dirty="0"/>
              <a:t>在各存储节点中获得单个关键词的查询结果集</a:t>
            </a:r>
            <a:r>
              <a:rPr lang="en-US" altLang="zh-CN" sz="1400" dirty="0"/>
              <a:t>S1</a:t>
            </a:r>
            <a:r>
              <a:rPr lang="zh-CN" altLang="en-US" sz="1400" dirty="0"/>
              <a:t>和</a:t>
            </a:r>
            <a:r>
              <a:rPr lang="en-US" altLang="zh-CN" sz="1400" dirty="0"/>
              <a:t>S2</a:t>
            </a:r>
            <a:r>
              <a:rPr lang="zh-CN" altLang="en-US" sz="1400" dirty="0"/>
              <a:t>及其证明</a:t>
            </a:r>
            <a:r>
              <a:rPr lang="en-US" altLang="zh-CN" sz="1400" dirty="0"/>
              <a:t>P1</a:t>
            </a:r>
            <a:r>
              <a:rPr lang="zh-CN" altLang="en-US" sz="1400" dirty="0"/>
              <a:t>和</a:t>
            </a:r>
            <a:r>
              <a:rPr lang="en-US" altLang="zh-CN" sz="1400" dirty="0"/>
              <a:t>P2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lvl="1"/>
            <a:r>
              <a:rPr lang="en-US" altLang="zh-CN" sz="1400" dirty="0"/>
              <a:t>3. Auditor</a:t>
            </a:r>
            <a:r>
              <a:rPr lang="zh-CN" altLang="en-US" sz="1400" dirty="0"/>
              <a:t>生成交集及证明。</a:t>
            </a:r>
            <a:endParaRPr lang="en-US" altLang="zh-CN" sz="1400" dirty="0"/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28900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1485</Words>
  <Application>Microsoft Office PowerPoint</Application>
  <PresentationFormat>宽屏</PresentationFormat>
  <Paragraphs>73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Wingdings</vt:lpstr>
      <vt:lpstr>Office 主题​​</vt:lpstr>
      <vt:lpstr>面向去中心化存储系统的可验证倒排索引</vt:lpstr>
      <vt:lpstr>面向去中心化存储系统的可验证倒排索引</vt:lpstr>
      <vt:lpstr>面向去中心化存储系统的可验证倒排索引</vt:lpstr>
      <vt:lpstr>面向去中心化存储系统的可验证倒排索引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金萍 贾</dc:creator>
  <cp:lastModifiedBy>金萍 贾</cp:lastModifiedBy>
  <cp:revision>1</cp:revision>
  <dcterms:created xsi:type="dcterms:W3CDTF">2025-08-22T05:38:25Z</dcterms:created>
  <dcterms:modified xsi:type="dcterms:W3CDTF">2025-08-22T05:38:49Z</dcterms:modified>
</cp:coreProperties>
</file>